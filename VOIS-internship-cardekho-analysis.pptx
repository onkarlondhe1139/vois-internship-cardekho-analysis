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8" d="100"/>
          <a:sy n="88" d="100"/>
        </p:scale>
        <p:origin x="165" y="5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karlondhe1139/vois-internship-cardekho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karlondhe1139/vois-internship-cardekho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karlondhe1139/vois-internship-cardekho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57" y="2914507"/>
            <a:ext cx="9971314" cy="620485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– </a:t>
            </a:r>
            <a:r>
              <a:rPr lang="en-IN" sz="3200" dirty="0">
                <a:latin typeface="Bahnschrift SemiBold" panose="020B0502040204020203" pitchFamily="34" charset="0"/>
              </a:rPr>
              <a:t>Car Market Analysis – Car Dekho Data</a:t>
            </a:r>
            <a:r>
              <a:rPr lang="en-GB" sz="3200" dirty="0">
                <a:latin typeface="Bahnschrift SemiBold" panose="020B0502040204020203" pitchFamily="34" charset="0"/>
              </a:rPr>
              <a:t> </a:t>
            </a:r>
            <a:endParaRPr lang="en-IN" sz="3200" dirty="0">
              <a:latin typeface="Bahnschrift SemiBold" panose="020B0502040204020203" pitchFamily="34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20487" y="3655498"/>
            <a:ext cx="614038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AICTE STU ID : </a:t>
            </a:r>
            <a:r>
              <a:rPr lang="en-IN" dirty="0"/>
              <a:t>STU691884604e8cc1763214432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Internship ID : </a:t>
            </a:r>
            <a:r>
              <a:rPr lang="en-IN" dirty="0"/>
              <a:t>INTERNSHIP_17830691666a4779eecfe8a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Student Name </a:t>
            </a:r>
            <a:r>
              <a:rPr lang="en-US" dirty="0"/>
              <a:t>: Onkar Abhiman Londhe</a:t>
            </a:r>
            <a:endParaRPr lang="en-IN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234785"/>
            <a:ext cx="6889206" cy="3607987"/>
          </a:xfrm>
        </p:spPr>
        <p:txBody>
          <a:bodyPr>
            <a:normAutofit fontScale="62500" lnSpcReduction="20000"/>
          </a:bodyPr>
          <a:lstStyle/>
          <a:p>
            <a:pPr lvl="0">
              <a:lnSpc>
                <a:spcPct val="120000"/>
              </a:lnSpc>
            </a:pPr>
            <a:r>
              <a:rPr lang="en-IN" sz="2800" dirty="0"/>
              <a:t>Used-car listings vary by </a:t>
            </a:r>
            <a:r>
              <a:rPr lang="en-IN" sz="2800" b="1" dirty="0"/>
              <a:t>price, fuel type, transmission and usage level</a:t>
            </a:r>
            <a:r>
              <a:rPr lang="en-IN" sz="2800" dirty="0"/>
              <a:t>. </a:t>
            </a:r>
          </a:p>
          <a:p>
            <a:pPr lvl="0">
              <a:lnSpc>
                <a:spcPct val="120000"/>
              </a:lnSpc>
            </a:pPr>
            <a:r>
              <a:rPr lang="en-IN" sz="2800" dirty="0"/>
              <a:t>It is difficult to identify which factors are most associated with </a:t>
            </a:r>
            <a:r>
              <a:rPr lang="en-IN" sz="2800" b="1" dirty="0"/>
              <a:t>selling price</a:t>
            </a:r>
            <a:r>
              <a:rPr lang="en-IN" sz="2800" dirty="0"/>
              <a:t>. </a:t>
            </a:r>
          </a:p>
          <a:p>
            <a:pPr lvl="0">
              <a:lnSpc>
                <a:spcPct val="120000"/>
              </a:lnSpc>
            </a:pPr>
            <a:r>
              <a:rPr lang="en-IN" sz="2800" dirty="0"/>
              <a:t>Buyers and sellers need </a:t>
            </a:r>
            <a:r>
              <a:rPr lang="en-IN" sz="2800" b="1" dirty="0"/>
              <a:t>data-driven benchmarks</a:t>
            </a:r>
            <a:r>
              <a:rPr lang="en-IN" sz="2800" dirty="0"/>
              <a:t> for reasonable pricing. </a:t>
            </a:r>
          </a:p>
          <a:p>
            <a:pPr lvl="0">
              <a:lnSpc>
                <a:spcPct val="120000"/>
              </a:lnSpc>
            </a:pPr>
            <a:r>
              <a:rPr lang="en-IN" sz="2800" dirty="0"/>
              <a:t>This project </a:t>
            </a:r>
            <a:r>
              <a:rPr lang="en-IN" sz="2800" dirty="0" err="1"/>
              <a:t>analyzes</a:t>
            </a:r>
            <a:r>
              <a:rPr lang="en-IN" sz="2800" dirty="0"/>
              <a:t> historical </a:t>
            </a:r>
            <a:r>
              <a:rPr lang="en-IN" sz="2800" b="1" dirty="0"/>
              <a:t>Car Dekho data</a:t>
            </a:r>
            <a:r>
              <a:rPr lang="en-IN" sz="2800" dirty="0"/>
              <a:t> to uncover pricing patterns and market trends. </a:t>
            </a:r>
          </a:p>
          <a:p>
            <a:pPr lvl="0">
              <a:lnSpc>
                <a:spcPct val="120000"/>
              </a:lnSpc>
            </a:pPr>
            <a:r>
              <a:rPr lang="en-IN" sz="2800" dirty="0"/>
              <a:t>The goal is to support better </a:t>
            </a:r>
            <a:r>
              <a:rPr lang="en-IN" sz="2800" b="1" dirty="0"/>
              <a:t>buying, selling and inventory decisions</a:t>
            </a:r>
            <a:r>
              <a:rPr lang="en-IN" sz="2800" dirty="0"/>
              <a:t>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250041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D7347-EDE3-7B5A-2C16-AE761701E0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8" y="1142497"/>
            <a:ext cx="6989355" cy="2718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This project performs an </a:t>
            </a:r>
            <a:r>
              <a:rPr lang="en-IN" sz="1800" b="1" dirty="0"/>
              <a:t>end-to-end exploratory analysis</a:t>
            </a:r>
            <a:r>
              <a:rPr lang="en-IN" sz="1800" dirty="0"/>
              <a:t> of Car Dekho used-car data using:</a:t>
            </a:r>
          </a:p>
          <a:p>
            <a:pPr lvl="1"/>
            <a:r>
              <a:rPr lang="en-IN" dirty="0"/>
              <a:t>Python </a:t>
            </a:r>
          </a:p>
          <a:p>
            <a:pPr lvl="1"/>
            <a:r>
              <a:rPr lang="en-IN" dirty="0"/>
              <a:t>Pandas </a:t>
            </a:r>
          </a:p>
          <a:p>
            <a:pPr lvl="1"/>
            <a:r>
              <a:rPr lang="en-IN" dirty="0"/>
              <a:t>NumPy </a:t>
            </a:r>
          </a:p>
          <a:p>
            <a:pPr lvl="1"/>
            <a:r>
              <a:rPr lang="en-IN" dirty="0"/>
              <a:t>Matplotlib </a:t>
            </a:r>
          </a:p>
          <a:p>
            <a:pPr lvl="1"/>
            <a:r>
              <a:rPr lang="en-IN" dirty="0"/>
              <a:t>Seaborn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A6052A1E-CB35-1123-3440-2BCA0699A91B}"/>
              </a:ext>
            </a:extLst>
          </p:cNvPr>
          <p:cNvSpPr txBox="1">
            <a:spLocks/>
          </p:cNvSpPr>
          <p:nvPr/>
        </p:nvSpPr>
        <p:spPr>
          <a:xfrm>
            <a:off x="2954743" y="2347597"/>
            <a:ext cx="2645957" cy="4358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/>
              <a:t>Dataset Contains </a:t>
            </a:r>
            <a:r>
              <a:rPr lang="en-IN" sz="1800" dirty="0"/>
              <a:t>:</a:t>
            </a:r>
          </a:p>
          <a:p>
            <a:pPr lvl="0"/>
            <a:r>
              <a:rPr lang="en-IN" sz="1800" dirty="0"/>
              <a:t>Car Name </a:t>
            </a:r>
          </a:p>
          <a:p>
            <a:pPr lvl="0"/>
            <a:r>
              <a:rPr lang="en-IN" sz="1800" dirty="0"/>
              <a:t>Manufacturing Year </a:t>
            </a:r>
          </a:p>
          <a:p>
            <a:pPr lvl="0"/>
            <a:r>
              <a:rPr lang="en-IN" sz="1800" dirty="0"/>
              <a:t>Selling Price </a:t>
            </a:r>
          </a:p>
          <a:p>
            <a:pPr lvl="0"/>
            <a:r>
              <a:rPr lang="en-IN" sz="1800" dirty="0"/>
              <a:t>Present Price </a:t>
            </a:r>
          </a:p>
          <a:p>
            <a:pPr lvl="0"/>
            <a:r>
              <a:rPr lang="en-IN" sz="1800" dirty="0" err="1"/>
              <a:t>Kilometers</a:t>
            </a:r>
            <a:r>
              <a:rPr lang="en-IN" sz="1800" dirty="0"/>
              <a:t> Driven </a:t>
            </a:r>
          </a:p>
          <a:p>
            <a:pPr lvl="0"/>
            <a:r>
              <a:rPr lang="en-IN" sz="1800" dirty="0"/>
              <a:t>Fuel Type </a:t>
            </a:r>
          </a:p>
          <a:p>
            <a:pPr lvl="0"/>
            <a:r>
              <a:rPr lang="en-IN" sz="1800" dirty="0"/>
              <a:t>Seller Type </a:t>
            </a:r>
          </a:p>
          <a:p>
            <a:pPr lvl="0"/>
            <a:r>
              <a:rPr lang="en-IN" sz="1800" dirty="0"/>
              <a:t>Transmission </a:t>
            </a:r>
          </a:p>
          <a:p>
            <a:pPr lvl="0"/>
            <a:r>
              <a:rPr lang="en-IN" sz="1800" dirty="0"/>
              <a:t>Previous Owner Information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IN" sz="18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F14A870-B3EB-8327-2F8D-CB73FF71EB16}"/>
              </a:ext>
            </a:extLst>
          </p:cNvPr>
          <p:cNvSpPr txBox="1">
            <a:spLocks/>
          </p:cNvSpPr>
          <p:nvPr/>
        </p:nvSpPr>
        <p:spPr>
          <a:xfrm>
            <a:off x="5736360" y="2347597"/>
            <a:ext cx="5377953" cy="22461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/>
              <a:t>Analysis Performed </a:t>
            </a:r>
            <a:r>
              <a:rPr lang="en-IN" sz="1800" dirty="0"/>
              <a:t>The workflow covers :</a:t>
            </a:r>
          </a:p>
          <a:p>
            <a:pPr lvl="0"/>
            <a:r>
              <a:rPr lang="en-IN" sz="1800" dirty="0"/>
              <a:t>Data inspection </a:t>
            </a:r>
          </a:p>
          <a:p>
            <a:pPr lvl="0"/>
            <a:r>
              <a:rPr lang="en-IN" sz="1800" dirty="0"/>
              <a:t>Data cleaning </a:t>
            </a:r>
          </a:p>
          <a:p>
            <a:pPr lvl="0"/>
            <a:r>
              <a:rPr lang="en-IN" sz="1800" dirty="0"/>
              <a:t>Feature engineering </a:t>
            </a:r>
          </a:p>
          <a:p>
            <a:pPr lvl="0"/>
            <a:r>
              <a:rPr lang="en-IN" sz="1800" dirty="0"/>
              <a:t>Descriptive statistics </a:t>
            </a:r>
          </a:p>
          <a:p>
            <a:pPr lvl="0"/>
            <a:r>
              <a:rPr lang="en-IN" sz="1800" dirty="0"/>
              <a:t>Categorical comparisons </a:t>
            </a:r>
          </a:p>
          <a:p>
            <a:pPr lvl="0"/>
            <a:r>
              <a:rPr lang="en-IN" sz="1800" dirty="0"/>
              <a:t>Mileage analysis </a:t>
            </a:r>
          </a:p>
          <a:p>
            <a:pPr lvl="0"/>
            <a:r>
              <a:rPr lang="en-IN" sz="1800" dirty="0"/>
              <a:t>Age analysis </a:t>
            </a:r>
          </a:p>
          <a:p>
            <a:pPr lvl="0"/>
            <a:r>
              <a:rPr lang="en-IN" sz="1800" dirty="0"/>
              <a:t>Price-retention analysis </a:t>
            </a:r>
          </a:p>
          <a:p>
            <a:pPr lvl="0"/>
            <a:r>
              <a:rPr lang="en-IN" sz="1800" dirty="0"/>
              <a:t>Correlation analysis </a:t>
            </a:r>
          </a:p>
          <a:p>
            <a:pPr lvl="0"/>
            <a:r>
              <a:rPr lang="en-IN" sz="1800" dirty="0"/>
              <a:t>Identification of important pricing patterns</a:t>
            </a:r>
          </a:p>
          <a:p>
            <a:pPr lvl="0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  <p:bldP spid="9" grpId="0" build="p"/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600" b="1" dirty="0"/>
              <a:t>🚗 Car Buyers</a:t>
            </a:r>
          </a:p>
          <a:p>
            <a:pPr lvl="1"/>
            <a:r>
              <a:rPr lang="en-IN" sz="3400" dirty="0"/>
              <a:t>Compare cars and identify reasonable prices.</a:t>
            </a:r>
          </a:p>
          <a:p>
            <a:pPr marL="0" indent="0">
              <a:buNone/>
            </a:pPr>
            <a:r>
              <a:rPr lang="en-IN" sz="3600" b="1" dirty="0"/>
              <a:t>🏷️ Car Sellers</a:t>
            </a:r>
          </a:p>
          <a:p>
            <a:pPr lvl="1"/>
            <a:r>
              <a:rPr lang="en-IN" sz="3400" dirty="0"/>
              <a:t>Estimate competitive selling prices.</a:t>
            </a:r>
          </a:p>
          <a:p>
            <a:pPr marL="0" indent="0">
              <a:buNone/>
            </a:pPr>
            <a:r>
              <a:rPr lang="en-IN" sz="3600" b="1" dirty="0"/>
              <a:t>🏢 Car Dealers</a:t>
            </a:r>
          </a:p>
          <a:p>
            <a:pPr lvl="1"/>
            <a:r>
              <a:rPr lang="en-IN" sz="3400" dirty="0"/>
              <a:t>Understand demand and pricing patterns.</a:t>
            </a:r>
          </a:p>
          <a:p>
            <a:pPr marL="0" indent="0">
              <a:buNone/>
            </a:pPr>
            <a:r>
              <a:rPr lang="en-IN" sz="3600" b="1" dirty="0"/>
              <a:t>📦 Used-Car Businesses</a:t>
            </a:r>
          </a:p>
          <a:p>
            <a:pPr lvl="1"/>
            <a:r>
              <a:rPr lang="en-IN" sz="3400" dirty="0"/>
              <a:t>Support inventory and pricing decisions.</a:t>
            </a:r>
          </a:p>
          <a:p>
            <a:pPr marL="0" indent="0">
              <a:buNone/>
            </a:pPr>
            <a:r>
              <a:rPr lang="en-IN" sz="3600" b="1" dirty="0"/>
              <a:t>📊 Data Analysts / Business Teams</a:t>
            </a:r>
          </a:p>
          <a:p>
            <a:pPr lvl="1"/>
            <a:r>
              <a:rPr lang="en-IN" sz="3400" dirty="0"/>
              <a:t>Derive actionable insights from automobile data.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CD254F-56FB-2776-E011-EAAFA562A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959815"/>
              </p:ext>
            </p:extLst>
          </p:nvPr>
        </p:nvGraphicFramePr>
        <p:xfrm>
          <a:off x="1955800" y="1676399"/>
          <a:ext cx="6861630" cy="427466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066471">
                  <a:extLst>
                    <a:ext uri="{9D8B030D-6E8A-4147-A177-3AD203B41FA5}">
                      <a16:colId xmlns:a16="http://schemas.microsoft.com/office/drawing/2014/main" val="635375732"/>
                    </a:ext>
                  </a:extLst>
                </a:gridCol>
                <a:gridCol w="4795159">
                  <a:extLst>
                    <a:ext uri="{9D8B030D-6E8A-4147-A177-3AD203B41FA5}">
                      <a16:colId xmlns:a16="http://schemas.microsoft.com/office/drawing/2014/main" val="3790886178"/>
                    </a:ext>
                  </a:extLst>
                </a:gridCol>
              </a:tblGrid>
              <a:tr h="58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996084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Core programming and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97471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loading, cleaning, grouping and aggregation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338533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Numerical calculations and feature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412147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14741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Seaborn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Statistical visualization and correlation heatmap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768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Jupyter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Interactive development and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41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err="1">
                <a:solidFill>
                  <a:srgbClr val="0070C0"/>
                </a:solidFill>
                <a:hlinkClick r:id="rId3"/>
              </a:rPr>
              <a:t>Github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 Link 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46E763-8A18-CDDA-5752-2FD592925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913" y="1554588"/>
            <a:ext cx="7167490" cy="39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err="1">
                <a:solidFill>
                  <a:srgbClr val="0070C0"/>
                </a:solidFill>
                <a:hlinkClick r:id="rId3"/>
              </a:rPr>
              <a:t>Github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41DC1D-7EA3-31FB-0325-17740CF02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084" y="1554588"/>
            <a:ext cx="7167490" cy="39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8EDA220-A275-5502-87A0-957B48A3A70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err="1">
                <a:solidFill>
                  <a:srgbClr val="0070C0"/>
                </a:solidFill>
                <a:hlinkClick r:id="rId3"/>
              </a:rPr>
              <a:t>Github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4F848E-FC64-A3C3-A113-610F951FA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198" y="1511045"/>
            <a:ext cx="7167490" cy="39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085" y="2895427"/>
            <a:ext cx="4342499" cy="8108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580</TotalTime>
  <Words>278</Words>
  <Application>Microsoft Office PowerPoint</Application>
  <PresentationFormat>Widescreen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Bahnschrift SemiBold</vt:lpstr>
      <vt:lpstr>Calibri</vt:lpstr>
      <vt:lpstr>Trebuchet MS</vt:lpstr>
      <vt:lpstr>Wingdings</vt:lpstr>
      <vt:lpstr>Wingdings 3</vt:lpstr>
      <vt:lpstr>Facet</vt:lpstr>
      <vt:lpstr>Project Title – Car Market Analysis – Car Dekho Data 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Onkar Londhe</cp:lastModifiedBy>
  <cp:revision>77</cp:revision>
  <dcterms:created xsi:type="dcterms:W3CDTF">2021-07-11T13:13:15Z</dcterms:created>
  <dcterms:modified xsi:type="dcterms:W3CDTF">2026-08-28T06:54:20Z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